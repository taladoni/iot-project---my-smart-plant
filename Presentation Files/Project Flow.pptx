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CB4DE7B-C915-6AD9-A7D3-883C5D70F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DEE8FB0-0D63-F922-C3B1-0653C5F3B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164F50D-55FC-74DA-8701-88FDD4F7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C1D6741-5303-64C9-AB02-DE8F1E388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E050C3A-D0D9-377B-A9A5-3923DB76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5517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6C3230-9416-68FB-2FB5-3DAB64FA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13435A8-2AFA-8EE8-40C2-6CB67845F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EEDCE2-CD15-B391-5BC0-102C7BB9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D80710D-C75A-29D1-0FB9-8D0FB10B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557B8BC-EBFF-88AC-EC3C-04F3BE58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757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0B6F13-C328-2924-EAAA-020DE491B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4CCC6E9-63A6-3301-CF8A-FA8F71165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75A416-748D-9ACC-4D77-DD86E91A9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C8CE17C-CD69-56F3-867C-CEDFB4822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8ECE2B1-0CF9-9C4E-7246-C88F3AC8F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903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902967-D859-41B3-E1E4-A67C359A4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E878D8-F0CA-D408-BAF6-EB30605D1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6162F18-701F-91D7-5D7B-77F8E6C11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20C83B0-B211-DEBF-7827-B5119B92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40AF717-1826-3C3B-43BC-92CFACC2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57BB776-8478-9D0C-440E-B1C557FB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6284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D4FCEF-FB1F-9C02-13F9-337CAFA0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4D2A8D2-3276-5759-1ACF-74C2A8FD5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A2153FD-22B9-8BF5-E42B-3EEB9F6B9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09E35BB-E969-7181-2BBD-4E404BCEB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778A9C6-1524-CA01-C8C0-B1BC61BFE7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DC242C4-A1B6-51C2-F79B-CB4C8E45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16783FD1-B618-0AFA-5B77-F09A28616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3F31CB43-7CF2-98E9-3D81-E832CE15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918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A2CE3D-EB35-C285-57AA-9258DB615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DD850DB-9D85-C674-0429-CA4708F3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B92F879-5847-95E9-89F2-A8D188A3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FAB4F50-8E01-63F4-DEBF-6C814507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2185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DF96B47-364B-5358-D23D-02D87545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E651E98-BD89-5634-043B-8FFE8F53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3F6A7AD-F4B7-79DE-2268-80B019FB4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285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B83C39F-3FFA-3009-7791-FFBECE6BC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22C1509-4013-A560-F4C7-E06EACDE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B14BE61-DA09-97F1-257F-94B0E7D96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AFEAAC4-BD42-6E11-EA74-7D45EB0F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6F9FD8A-8AA8-D6E1-5E2B-E72877F2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21DF292-EDBA-94E4-407F-FFC950BE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479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7B3073-D810-0BC6-04BF-8376C3AE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115EEA0-672F-07C6-93AC-8662605E8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E2F9B58-23F3-1F57-7621-19F1476A0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5D3FE8D-1A2F-F235-78AF-0B414142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736B2A6-B3E2-462B-BEC7-1CD92853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F5492E7-4F7A-BA48-6D6C-9D95E25B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7068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61BE72-A7D6-047C-88AE-2B592F3C0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C26F140-66B0-071B-A4C0-98784AA0B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3C3DFAE-8C9F-9E08-A6FF-CEF4852C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497CDE1-2E67-15F0-6A40-EC1961C2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D3585C5-6633-5D1B-71DC-A4C4E5C7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947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180590B-3F72-A99A-1A9F-83F145D92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814C218-7AB9-B886-4A4F-3EDF37E0A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A47C136-3B9C-CE72-F98B-569232A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E6BFA9-703B-8B00-C4B0-5E9111F2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30A2A50-B90D-44E9-1433-10A3E744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359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2DBEE7A-91DA-D22C-B268-7FFB5A42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BF9500C-4EDC-FB83-BAD2-DB062D8B5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96AD3F6-C4F6-4B6C-2EA6-50421AACF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891BC-B323-4DAB-9861-B196D3FA706C}" type="datetimeFigureOut">
              <a:rPr lang="he-IL" smtClean="0"/>
              <a:t>ט'/שבט/תשפ"ו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57DC4B1-9232-533C-6B21-8BF570329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77B7B3-0E82-5D69-F0F3-8E2FF7C90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AF3A1-B6F9-42FD-90F4-1806D207AFB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01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קבוצה 1061">
            <a:extLst>
              <a:ext uri="{FF2B5EF4-FFF2-40B4-BE49-F238E27FC236}">
                <a16:creationId xmlns:a16="http://schemas.microsoft.com/office/drawing/2014/main" id="{F10E91A2-B55E-6B5D-0AD3-95062900300D}"/>
              </a:ext>
            </a:extLst>
          </p:cNvPr>
          <p:cNvGrpSpPr/>
          <p:nvPr/>
        </p:nvGrpSpPr>
        <p:grpSpPr>
          <a:xfrm>
            <a:off x="2443224" y="87229"/>
            <a:ext cx="1609526" cy="1624474"/>
            <a:chOff x="2443224" y="112099"/>
            <a:chExt cx="1587628" cy="1599604"/>
          </a:xfrm>
        </p:grpSpPr>
        <p:pic>
          <p:nvPicPr>
            <p:cNvPr id="1028" name="Picture 4" descr="Wifi Images - Free Download on Freepik">
              <a:extLst>
                <a:ext uri="{FF2B5EF4-FFF2-40B4-BE49-F238E27FC236}">
                  <a16:creationId xmlns:a16="http://schemas.microsoft.com/office/drawing/2014/main" id="{99DDFBA5-8E49-DB68-ABDA-8CDE115142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224" y="112099"/>
              <a:ext cx="1587628" cy="1587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תיבת טקסט 45">
              <a:extLst>
                <a:ext uri="{FF2B5EF4-FFF2-40B4-BE49-F238E27FC236}">
                  <a16:creationId xmlns:a16="http://schemas.microsoft.com/office/drawing/2014/main" id="{5AE46CE0-18F6-2DB3-22AC-3A01085CB8EA}"/>
                </a:ext>
              </a:extLst>
            </p:cNvPr>
            <p:cNvSpPr txBox="1"/>
            <p:nvPr/>
          </p:nvSpPr>
          <p:spPr>
            <a:xfrm>
              <a:off x="2570353" y="1342371"/>
              <a:ext cx="12909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/>
                <a:t>WiFi</a:t>
              </a:r>
              <a:endParaRPr lang="he-IL" dirty="0"/>
            </a:p>
          </p:txBody>
        </p:sp>
      </p:grpSp>
      <p:pic>
        <p:nvPicPr>
          <p:cNvPr id="1026" name="Picture 2" descr="Amazon.com: DIYmall ESP32 DEVKIT ESP32-S3 Development Board 36Pins ESP32  ESP-32S 2.4GHz WiFi+BT BLE Dual-core Dev Module CP2102 for Arduino DOIT  ESP32-WROOM-32 : Industrial &amp; Scientific">
            <a:extLst>
              <a:ext uri="{FF2B5EF4-FFF2-40B4-BE49-F238E27FC236}">
                <a16:creationId xmlns:a16="http://schemas.microsoft.com/office/drawing/2014/main" id="{26016F0F-F3D4-1177-A21E-47838E6C6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1" y="8880"/>
            <a:ext cx="1587627" cy="158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‪5. DHT22 - Digital Temperature and Humidity Sensor‬‏">
            <a:extLst>
              <a:ext uri="{FF2B5EF4-FFF2-40B4-BE49-F238E27FC236}">
                <a16:creationId xmlns:a16="http://schemas.microsoft.com/office/drawing/2014/main" id="{0EFA0BB8-CD3A-FC5F-54A8-5D64F1566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57" y="2857952"/>
            <a:ext cx="1388364" cy="100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apacitive Soil Moisture Sensor V2.0 – QuartzComponents">
            <a:extLst>
              <a:ext uri="{FF2B5EF4-FFF2-40B4-BE49-F238E27FC236}">
                <a16:creationId xmlns:a16="http://schemas.microsoft.com/office/drawing/2014/main" id="{5E39691A-8C2D-E1F8-9B93-D89E3FF642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7" b="25120"/>
          <a:stretch>
            <a:fillRect/>
          </a:stretch>
        </p:blipFill>
        <p:spPr bwMode="auto">
          <a:xfrm>
            <a:off x="37595" y="3922924"/>
            <a:ext cx="1728216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WS IoT Core - NorthBay Solutions">
            <a:extLst>
              <a:ext uri="{FF2B5EF4-FFF2-40B4-BE49-F238E27FC236}">
                <a16:creationId xmlns:a16="http://schemas.microsoft.com/office/drawing/2014/main" id="{CE0E24C3-BC46-FDD6-D3D0-92797C6F7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18" t="16484" r="30112" b="18623"/>
          <a:stretch>
            <a:fillRect/>
          </a:stretch>
        </p:blipFill>
        <p:spPr bwMode="auto">
          <a:xfrm>
            <a:off x="5145244" y="132388"/>
            <a:ext cx="1329308" cy="112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DF091042-42D0-76B4-3AA0-9BDF8C3633E1}"/>
              </a:ext>
            </a:extLst>
          </p:cNvPr>
          <p:cNvCxnSpPr>
            <a:cxnSpLocks/>
          </p:cNvCxnSpPr>
          <p:nvPr/>
        </p:nvCxnSpPr>
        <p:spPr>
          <a:xfrm>
            <a:off x="3814352" y="925867"/>
            <a:ext cx="11343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D8038D37-2519-1F17-2BC9-D5B6D52789C1}"/>
              </a:ext>
            </a:extLst>
          </p:cNvPr>
          <p:cNvSpPr txBox="1"/>
          <p:nvPr/>
        </p:nvSpPr>
        <p:spPr>
          <a:xfrm>
            <a:off x="3773165" y="312592"/>
            <a:ext cx="152742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MQTT over TLS</a:t>
            </a:r>
            <a:endParaRPr lang="he-IL" dirty="0"/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85323C1B-AA65-FF32-70BA-8DA6F8715B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4473" y="1839900"/>
            <a:ext cx="1261872" cy="1261872"/>
          </a:xfrm>
          <a:prstGeom prst="rect">
            <a:avLst/>
          </a:prstGeom>
        </p:spPr>
      </p:pic>
      <p:pic>
        <p:nvPicPr>
          <p:cNvPr id="1038" name="Picture 14" descr="Cracking The Code To Content Delivery | by Don Kaluarachchi | Towards AWS">
            <a:extLst>
              <a:ext uri="{FF2B5EF4-FFF2-40B4-BE49-F238E27FC236}">
                <a16:creationId xmlns:a16="http://schemas.microsoft.com/office/drawing/2014/main" id="{16C689BE-BD41-F3F2-5E27-70AE54D449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7" t="21929" r="9893" b="22876"/>
          <a:stretch>
            <a:fillRect/>
          </a:stretch>
        </p:blipFill>
        <p:spPr bwMode="auto">
          <a:xfrm>
            <a:off x="3625738" y="3789170"/>
            <a:ext cx="2008633" cy="73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CEDCC72-7AC9-B8F0-05EA-A3500EC73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482" y="5582218"/>
            <a:ext cx="1161288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C21B25FA-3E53-AF12-D91C-54739D3C8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021" y="5687935"/>
            <a:ext cx="1870565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4AC82432-1E02-C33F-0399-FE94B7650D98}"/>
              </a:ext>
            </a:extLst>
          </p:cNvPr>
          <p:cNvCxnSpPr>
            <a:cxnSpLocks/>
          </p:cNvCxnSpPr>
          <p:nvPr/>
        </p:nvCxnSpPr>
        <p:spPr>
          <a:xfrm flipH="1">
            <a:off x="4910053" y="1235287"/>
            <a:ext cx="462253" cy="560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379C472C-A84B-CDC0-4569-1D92C83C01FD}"/>
              </a:ext>
            </a:extLst>
          </p:cNvPr>
          <p:cNvCxnSpPr>
            <a:cxnSpLocks/>
            <a:endCxn id="1040" idx="0"/>
          </p:cNvCxnSpPr>
          <p:nvPr/>
        </p:nvCxnSpPr>
        <p:spPr>
          <a:xfrm flipH="1">
            <a:off x="4065126" y="4616999"/>
            <a:ext cx="229754" cy="965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Know more about lambda in AWS | Digital Marketing Agency in Rajasthan">
            <a:extLst>
              <a:ext uri="{FF2B5EF4-FFF2-40B4-BE49-F238E27FC236}">
                <a16:creationId xmlns:a16="http://schemas.microsoft.com/office/drawing/2014/main" id="{359ACAA7-4465-ECFF-4834-BD53E81DD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9" t="10636" r="6489" b="7952"/>
          <a:stretch>
            <a:fillRect/>
          </a:stretch>
        </p:blipFill>
        <p:spPr bwMode="auto">
          <a:xfrm>
            <a:off x="7680425" y="87229"/>
            <a:ext cx="1527426" cy="150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21C9D5C9-D6CA-6BC9-F022-87FE044711C3}"/>
              </a:ext>
            </a:extLst>
          </p:cNvPr>
          <p:cNvSpPr txBox="1"/>
          <p:nvPr/>
        </p:nvSpPr>
        <p:spPr>
          <a:xfrm>
            <a:off x="5079580" y="1258989"/>
            <a:ext cx="1484504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/>
              <a:t>IoT Rule: Store telemetry data</a:t>
            </a:r>
            <a:endParaRPr lang="he-IL" dirty="0"/>
          </a:p>
        </p:txBody>
      </p:sp>
      <p:grpSp>
        <p:nvGrpSpPr>
          <p:cNvPr id="34" name="קבוצה 33">
            <a:extLst>
              <a:ext uri="{FF2B5EF4-FFF2-40B4-BE49-F238E27FC236}">
                <a16:creationId xmlns:a16="http://schemas.microsoft.com/office/drawing/2014/main" id="{D6DEFBA9-A171-95B9-9117-13B4BB840716}"/>
              </a:ext>
            </a:extLst>
          </p:cNvPr>
          <p:cNvGrpSpPr/>
          <p:nvPr/>
        </p:nvGrpSpPr>
        <p:grpSpPr>
          <a:xfrm>
            <a:off x="10146105" y="0"/>
            <a:ext cx="1527426" cy="1670739"/>
            <a:chOff x="9278872" y="2170167"/>
            <a:chExt cx="1527426" cy="1670739"/>
          </a:xfrm>
        </p:grpSpPr>
        <p:pic>
          <p:nvPicPr>
            <p:cNvPr id="32" name="תמונה 31">
              <a:extLst>
                <a:ext uri="{FF2B5EF4-FFF2-40B4-BE49-F238E27FC236}">
                  <a16:creationId xmlns:a16="http://schemas.microsoft.com/office/drawing/2014/main" id="{A1606D0B-DA07-17E9-B27E-28019D301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367448" y="2170167"/>
              <a:ext cx="1350273" cy="1350273"/>
            </a:xfrm>
            <a:prstGeom prst="rect">
              <a:avLst/>
            </a:prstGeom>
          </p:spPr>
        </p:pic>
        <p:sp>
          <p:nvSpPr>
            <p:cNvPr id="33" name="תיבת טקסט 32">
              <a:extLst>
                <a:ext uri="{FF2B5EF4-FFF2-40B4-BE49-F238E27FC236}">
                  <a16:creationId xmlns:a16="http://schemas.microsoft.com/office/drawing/2014/main" id="{6D69FB14-52A7-B1FE-4640-78BB4F498752}"/>
                </a:ext>
              </a:extLst>
            </p:cNvPr>
            <p:cNvSpPr txBox="1"/>
            <p:nvPr/>
          </p:nvSpPr>
          <p:spPr>
            <a:xfrm>
              <a:off x="9278872" y="3471574"/>
              <a:ext cx="1527426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dirty="0"/>
                <a:t>DynamoDB</a:t>
              </a:r>
              <a:endParaRPr lang="he-IL" dirty="0"/>
            </a:p>
          </p:txBody>
        </p:sp>
      </p:grpSp>
      <p:grpSp>
        <p:nvGrpSpPr>
          <p:cNvPr id="1081" name="קבוצה 1080">
            <a:extLst>
              <a:ext uri="{FF2B5EF4-FFF2-40B4-BE49-F238E27FC236}">
                <a16:creationId xmlns:a16="http://schemas.microsoft.com/office/drawing/2014/main" id="{379E4A0E-1801-6AC3-4DD6-1375FE701692}"/>
              </a:ext>
            </a:extLst>
          </p:cNvPr>
          <p:cNvGrpSpPr/>
          <p:nvPr/>
        </p:nvGrpSpPr>
        <p:grpSpPr>
          <a:xfrm>
            <a:off x="6474552" y="8880"/>
            <a:ext cx="1372851" cy="926971"/>
            <a:chOff x="6474552" y="8880"/>
            <a:chExt cx="1372851" cy="926971"/>
          </a:xfrm>
        </p:grpSpPr>
        <p:sp>
          <p:nvSpPr>
            <p:cNvPr id="29" name="תיבת טקסט 28">
              <a:extLst>
                <a:ext uri="{FF2B5EF4-FFF2-40B4-BE49-F238E27FC236}">
                  <a16:creationId xmlns:a16="http://schemas.microsoft.com/office/drawing/2014/main" id="{49FE02B5-227E-7860-70D3-B526E1392433}"/>
                </a:ext>
              </a:extLst>
            </p:cNvPr>
            <p:cNvSpPr txBox="1"/>
            <p:nvPr/>
          </p:nvSpPr>
          <p:spPr>
            <a:xfrm>
              <a:off x="6486004" y="8880"/>
              <a:ext cx="1361399" cy="92333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dirty="0"/>
                <a:t>Telemetry trigger (IoT Rule)</a:t>
              </a:r>
            </a:p>
          </p:txBody>
        </p:sp>
        <p:cxnSp>
          <p:nvCxnSpPr>
            <p:cNvPr id="40" name="מחבר חץ ישר 39">
              <a:extLst>
                <a:ext uri="{FF2B5EF4-FFF2-40B4-BE49-F238E27FC236}">
                  <a16:creationId xmlns:a16="http://schemas.microsoft.com/office/drawing/2014/main" id="{A578C191-2DFB-5499-4E40-B88FF5883D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4552" y="925867"/>
              <a:ext cx="1215552" cy="998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50" name="Picture 26" descr="Grafana logo - Free Icon PNG, SVG">
            <a:extLst>
              <a:ext uri="{FF2B5EF4-FFF2-40B4-BE49-F238E27FC236}">
                <a16:creationId xmlns:a16="http://schemas.microsoft.com/office/drawing/2014/main" id="{8EAF1E36-E6E9-E987-CEF1-6979C08CE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652" y="4007399"/>
            <a:ext cx="24384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0" name="קבוצה 1079">
            <a:extLst>
              <a:ext uri="{FF2B5EF4-FFF2-40B4-BE49-F238E27FC236}">
                <a16:creationId xmlns:a16="http://schemas.microsoft.com/office/drawing/2014/main" id="{0A02490B-4A66-E0AB-1202-FE969AC9B204}"/>
              </a:ext>
            </a:extLst>
          </p:cNvPr>
          <p:cNvGrpSpPr/>
          <p:nvPr/>
        </p:nvGrpSpPr>
        <p:grpSpPr>
          <a:xfrm>
            <a:off x="405070" y="1315746"/>
            <a:ext cx="1084726" cy="2515481"/>
            <a:chOff x="405070" y="1315746"/>
            <a:chExt cx="1084726" cy="2515481"/>
          </a:xfrm>
        </p:grpSpPr>
        <p:cxnSp>
          <p:nvCxnSpPr>
            <p:cNvPr id="9" name="מחבר חץ ישר 8">
              <a:extLst>
                <a:ext uri="{FF2B5EF4-FFF2-40B4-BE49-F238E27FC236}">
                  <a16:creationId xmlns:a16="http://schemas.microsoft.com/office/drawing/2014/main" id="{32BA502A-78AC-7564-92F6-30DAC347B3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070" y="1315746"/>
              <a:ext cx="0" cy="25154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מחבר חץ ישר 16">
              <a:extLst>
                <a:ext uri="{FF2B5EF4-FFF2-40B4-BE49-F238E27FC236}">
                  <a16:creationId xmlns:a16="http://schemas.microsoft.com/office/drawing/2014/main" id="{3DB55030-941D-F562-51C4-A04E760CB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418" y="1315746"/>
              <a:ext cx="0" cy="16010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תיבת טקסט 43">
              <a:extLst>
                <a:ext uri="{FF2B5EF4-FFF2-40B4-BE49-F238E27FC236}">
                  <a16:creationId xmlns:a16="http://schemas.microsoft.com/office/drawing/2014/main" id="{6D7B8913-92D5-C245-2185-094D250BFA46}"/>
                </a:ext>
              </a:extLst>
            </p:cNvPr>
            <p:cNvSpPr txBox="1"/>
            <p:nvPr/>
          </p:nvSpPr>
          <p:spPr>
            <a:xfrm>
              <a:off x="726084" y="2324602"/>
              <a:ext cx="763712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dirty="0"/>
                <a:t>GPIO</a:t>
              </a:r>
            </a:p>
          </p:txBody>
        </p:sp>
      </p:grpSp>
      <p:pic>
        <p:nvPicPr>
          <p:cNvPr id="1052" name="Picture 28">
            <a:extLst>
              <a:ext uri="{FF2B5EF4-FFF2-40B4-BE49-F238E27FC236}">
                <a16:creationId xmlns:a16="http://schemas.microsoft.com/office/drawing/2014/main" id="{7F2FEF6B-7FCC-7E44-1702-14A5E431B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2505" y="4135027"/>
            <a:ext cx="1161288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6">
            <a:extLst>
              <a:ext uri="{FF2B5EF4-FFF2-40B4-BE49-F238E27FC236}">
                <a16:creationId xmlns:a16="http://schemas.microsoft.com/office/drawing/2014/main" id="{7DF49FC3-E9E6-5D61-5F4C-4E31C5023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367" y="5449977"/>
            <a:ext cx="1161288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Cellphone logo Stock Vector Images - Alamy">
            <a:extLst>
              <a:ext uri="{FF2B5EF4-FFF2-40B4-BE49-F238E27FC236}">
                <a16:creationId xmlns:a16="http://schemas.microsoft.com/office/drawing/2014/main" id="{2A126A3C-23BE-0C85-EE22-8732A8AB2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2" t="8646" r="13393" b="9869"/>
          <a:stretch>
            <a:fillRect/>
          </a:stretch>
        </p:blipFill>
        <p:spPr bwMode="auto">
          <a:xfrm>
            <a:off x="11010841" y="5730677"/>
            <a:ext cx="813440" cy="113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GitHub - questdb/questdb-connect: SQLAchemy and Apache Superset extensions  for QuestDB">
            <a:extLst>
              <a:ext uri="{FF2B5EF4-FFF2-40B4-BE49-F238E27FC236}">
                <a16:creationId xmlns:a16="http://schemas.microsoft.com/office/drawing/2014/main" id="{0DCD0937-9FE6-57F5-92FE-82DF2C51A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129" y="2702460"/>
            <a:ext cx="2438400" cy="588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20" descr="Know more about lambda in AWS | Digital Marketing Agency in Rajasthan">
            <a:extLst>
              <a:ext uri="{FF2B5EF4-FFF2-40B4-BE49-F238E27FC236}">
                <a16:creationId xmlns:a16="http://schemas.microsoft.com/office/drawing/2014/main" id="{103F7E0D-9DB2-45DC-E7B4-B05E68CA25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9" t="10636" r="6489" b="7952"/>
          <a:stretch>
            <a:fillRect/>
          </a:stretch>
        </p:blipFill>
        <p:spPr bwMode="auto">
          <a:xfrm>
            <a:off x="10662929" y="2384237"/>
            <a:ext cx="1332106" cy="131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5" name="מחבר חץ ישר 1024">
            <a:extLst>
              <a:ext uri="{FF2B5EF4-FFF2-40B4-BE49-F238E27FC236}">
                <a16:creationId xmlns:a16="http://schemas.microsoft.com/office/drawing/2014/main" id="{3947ACF2-6A72-B2D4-C16B-60F9D11878B7}"/>
              </a:ext>
            </a:extLst>
          </p:cNvPr>
          <p:cNvCxnSpPr>
            <a:cxnSpLocks/>
          </p:cNvCxnSpPr>
          <p:nvPr/>
        </p:nvCxnSpPr>
        <p:spPr>
          <a:xfrm>
            <a:off x="11396275" y="3799083"/>
            <a:ext cx="0" cy="425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מחבר חץ ישר 1032">
            <a:extLst>
              <a:ext uri="{FF2B5EF4-FFF2-40B4-BE49-F238E27FC236}">
                <a16:creationId xmlns:a16="http://schemas.microsoft.com/office/drawing/2014/main" id="{DFF950B0-98B3-2C8D-E046-A352FDFDF5E0}"/>
              </a:ext>
            </a:extLst>
          </p:cNvPr>
          <p:cNvCxnSpPr>
            <a:cxnSpLocks/>
          </p:cNvCxnSpPr>
          <p:nvPr/>
        </p:nvCxnSpPr>
        <p:spPr>
          <a:xfrm>
            <a:off x="8209011" y="4809239"/>
            <a:ext cx="4636" cy="640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מחבר חץ ישר 1038">
            <a:extLst>
              <a:ext uri="{FF2B5EF4-FFF2-40B4-BE49-F238E27FC236}">
                <a16:creationId xmlns:a16="http://schemas.microsoft.com/office/drawing/2014/main" id="{93B775AF-2AD9-6D1E-819B-007381B733ED}"/>
              </a:ext>
            </a:extLst>
          </p:cNvPr>
          <p:cNvCxnSpPr>
            <a:cxnSpLocks/>
          </p:cNvCxnSpPr>
          <p:nvPr/>
        </p:nvCxnSpPr>
        <p:spPr>
          <a:xfrm flipH="1">
            <a:off x="4375630" y="3174758"/>
            <a:ext cx="325038" cy="614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6" name="קבוצה 1085">
            <a:extLst>
              <a:ext uri="{FF2B5EF4-FFF2-40B4-BE49-F238E27FC236}">
                <a16:creationId xmlns:a16="http://schemas.microsoft.com/office/drawing/2014/main" id="{0178643E-A238-08F6-6561-BD360BD0FACC}"/>
              </a:ext>
            </a:extLst>
          </p:cNvPr>
          <p:cNvGrpSpPr/>
          <p:nvPr/>
        </p:nvGrpSpPr>
        <p:grpSpPr>
          <a:xfrm>
            <a:off x="9637495" y="5129607"/>
            <a:ext cx="2221094" cy="1033256"/>
            <a:chOff x="9647899" y="4953955"/>
            <a:chExt cx="2221094" cy="1102864"/>
          </a:xfrm>
        </p:grpSpPr>
        <p:cxnSp>
          <p:nvCxnSpPr>
            <p:cNvPr id="1029" name="מחבר חץ ישר 1028">
              <a:extLst>
                <a:ext uri="{FF2B5EF4-FFF2-40B4-BE49-F238E27FC236}">
                  <a16:creationId xmlns:a16="http://schemas.microsoft.com/office/drawing/2014/main" id="{7694666D-52E9-3DB1-8180-E41B1B3CF21F}"/>
                </a:ext>
              </a:extLst>
            </p:cNvPr>
            <p:cNvCxnSpPr>
              <a:cxnSpLocks/>
            </p:cNvCxnSpPr>
            <p:nvPr/>
          </p:nvCxnSpPr>
          <p:spPr>
            <a:xfrm>
              <a:off x="11373529" y="4953955"/>
              <a:ext cx="0" cy="8250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תיבת טקסט 1046">
              <a:extLst>
                <a:ext uri="{FF2B5EF4-FFF2-40B4-BE49-F238E27FC236}">
                  <a16:creationId xmlns:a16="http://schemas.microsoft.com/office/drawing/2014/main" id="{045953F9-8945-51ED-A8FB-0602627FE43B}"/>
                </a:ext>
              </a:extLst>
            </p:cNvPr>
            <p:cNvSpPr txBox="1"/>
            <p:nvPr/>
          </p:nvSpPr>
          <p:spPr>
            <a:xfrm>
              <a:off x="9647899" y="5071286"/>
              <a:ext cx="2221094" cy="98553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dirty="0"/>
                <a:t>User alert &amp; interaction</a:t>
              </a:r>
            </a:p>
            <a:p>
              <a:pPr algn="ctr"/>
              <a:endParaRPr lang="he-IL" dirty="0"/>
            </a:p>
          </p:txBody>
        </p:sp>
      </p:grpSp>
      <p:grpSp>
        <p:nvGrpSpPr>
          <p:cNvPr id="1079" name="קבוצה 1078">
            <a:extLst>
              <a:ext uri="{FF2B5EF4-FFF2-40B4-BE49-F238E27FC236}">
                <a16:creationId xmlns:a16="http://schemas.microsoft.com/office/drawing/2014/main" id="{2E24CE61-99D3-9328-2912-2908EF953B03}"/>
              </a:ext>
            </a:extLst>
          </p:cNvPr>
          <p:cNvGrpSpPr/>
          <p:nvPr/>
        </p:nvGrpSpPr>
        <p:grpSpPr>
          <a:xfrm>
            <a:off x="1015536" y="835895"/>
            <a:ext cx="2130632" cy="969549"/>
            <a:chOff x="1015536" y="835895"/>
            <a:chExt cx="2130632" cy="969549"/>
          </a:xfrm>
        </p:grpSpPr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78F8E683-57F1-9A41-A02A-0BD1E9158DD8}"/>
                </a:ext>
              </a:extLst>
            </p:cNvPr>
            <p:cNvCxnSpPr>
              <a:cxnSpLocks/>
            </p:cNvCxnSpPr>
            <p:nvPr/>
          </p:nvCxnSpPr>
          <p:spPr>
            <a:xfrm>
              <a:off x="1508122" y="835895"/>
              <a:ext cx="1079630" cy="26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1" name="תיבת טקסט 1050">
              <a:extLst>
                <a:ext uri="{FF2B5EF4-FFF2-40B4-BE49-F238E27FC236}">
                  <a16:creationId xmlns:a16="http://schemas.microsoft.com/office/drawing/2014/main" id="{CECA354E-7F90-4E6A-D564-832898F84C83}"/>
                </a:ext>
              </a:extLst>
            </p:cNvPr>
            <p:cNvSpPr txBox="1"/>
            <p:nvPr/>
          </p:nvSpPr>
          <p:spPr>
            <a:xfrm>
              <a:off x="1015536" y="882114"/>
              <a:ext cx="213063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Sensor data acquisition &amp; network access</a:t>
              </a:r>
              <a:endParaRPr lang="he-IL" dirty="0"/>
            </a:p>
          </p:txBody>
        </p:sp>
      </p:grpSp>
      <p:sp>
        <p:nvSpPr>
          <p:cNvPr id="1066" name="תיבת טקסט 1065">
            <a:extLst>
              <a:ext uri="{FF2B5EF4-FFF2-40B4-BE49-F238E27FC236}">
                <a16:creationId xmlns:a16="http://schemas.microsoft.com/office/drawing/2014/main" id="{36CB7089-7E02-BBB4-9FF9-0D3A78356288}"/>
              </a:ext>
            </a:extLst>
          </p:cNvPr>
          <p:cNvSpPr txBox="1"/>
          <p:nvPr/>
        </p:nvSpPr>
        <p:spPr>
          <a:xfrm>
            <a:off x="4630054" y="3152752"/>
            <a:ext cx="148450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/>
              <a:t>Static data distribution</a:t>
            </a:r>
            <a:endParaRPr lang="he-IL" dirty="0"/>
          </a:p>
        </p:txBody>
      </p:sp>
      <p:grpSp>
        <p:nvGrpSpPr>
          <p:cNvPr id="1082" name="קבוצה 1081">
            <a:extLst>
              <a:ext uri="{FF2B5EF4-FFF2-40B4-BE49-F238E27FC236}">
                <a16:creationId xmlns:a16="http://schemas.microsoft.com/office/drawing/2014/main" id="{0AAA8637-E51F-8440-4367-734DB44CC6E2}"/>
              </a:ext>
            </a:extLst>
          </p:cNvPr>
          <p:cNvGrpSpPr/>
          <p:nvPr/>
        </p:nvGrpSpPr>
        <p:grpSpPr>
          <a:xfrm>
            <a:off x="8789655" y="370463"/>
            <a:ext cx="1695680" cy="688623"/>
            <a:chOff x="8789655" y="370463"/>
            <a:chExt cx="1695680" cy="688623"/>
          </a:xfrm>
        </p:grpSpPr>
        <p:cxnSp>
          <p:nvCxnSpPr>
            <p:cNvPr id="41" name="מחבר חץ ישר 40">
              <a:extLst>
                <a:ext uri="{FF2B5EF4-FFF2-40B4-BE49-F238E27FC236}">
                  <a16:creationId xmlns:a16="http://schemas.microsoft.com/office/drawing/2014/main" id="{C677DCB6-26D5-62D6-00BF-635471A1D97E}"/>
                </a:ext>
              </a:extLst>
            </p:cNvPr>
            <p:cNvCxnSpPr>
              <a:cxnSpLocks/>
            </p:cNvCxnSpPr>
            <p:nvPr/>
          </p:nvCxnSpPr>
          <p:spPr>
            <a:xfrm>
              <a:off x="9091336" y="1059086"/>
              <a:ext cx="11433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2" name="תיבת טקסט 1071">
              <a:extLst>
                <a:ext uri="{FF2B5EF4-FFF2-40B4-BE49-F238E27FC236}">
                  <a16:creationId xmlns:a16="http://schemas.microsoft.com/office/drawing/2014/main" id="{FD7D1FE1-3250-CF1A-1F1D-04875C1B1B2E}"/>
                </a:ext>
              </a:extLst>
            </p:cNvPr>
            <p:cNvSpPr txBox="1"/>
            <p:nvPr/>
          </p:nvSpPr>
          <p:spPr>
            <a:xfrm>
              <a:off x="8789655" y="370463"/>
              <a:ext cx="16956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dirty="0"/>
                <a:t>User &amp; state data storage</a:t>
              </a:r>
            </a:p>
          </p:txBody>
        </p:sp>
      </p:grpSp>
      <p:grpSp>
        <p:nvGrpSpPr>
          <p:cNvPr id="1083" name="קבוצה 1082">
            <a:extLst>
              <a:ext uri="{FF2B5EF4-FFF2-40B4-BE49-F238E27FC236}">
                <a16:creationId xmlns:a16="http://schemas.microsoft.com/office/drawing/2014/main" id="{1DC6E1D6-2558-0B48-3A4B-CCA0D1167238}"/>
              </a:ext>
            </a:extLst>
          </p:cNvPr>
          <p:cNvGrpSpPr/>
          <p:nvPr/>
        </p:nvGrpSpPr>
        <p:grpSpPr>
          <a:xfrm>
            <a:off x="7340980" y="1460267"/>
            <a:ext cx="2729810" cy="1315203"/>
            <a:chOff x="7571053" y="1387257"/>
            <a:chExt cx="2729810" cy="1315203"/>
          </a:xfrm>
        </p:grpSpPr>
        <p:cxnSp>
          <p:nvCxnSpPr>
            <p:cNvPr id="60" name="מחבר חץ ישר 59">
              <a:extLst>
                <a:ext uri="{FF2B5EF4-FFF2-40B4-BE49-F238E27FC236}">
                  <a16:creationId xmlns:a16="http://schemas.microsoft.com/office/drawing/2014/main" id="{2664B55E-646A-A14D-409B-ADD78851FF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18366" y="1387257"/>
              <a:ext cx="1382497" cy="13152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6" name="תיבת טקסט 1075">
              <a:extLst>
                <a:ext uri="{FF2B5EF4-FFF2-40B4-BE49-F238E27FC236}">
                  <a16:creationId xmlns:a16="http://schemas.microsoft.com/office/drawing/2014/main" id="{54697000-5637-2470-18EF-F01BFF0C5F91}"/>
                </a:ext>
              </a:extLst>
            </p:cNvPr>
            <p:cNvSpPr txBox="1"/>
            <p:nvPr/>
          </p:nvSpPr>
          <p:spPr>
            <a:xfrm>
              <a:off x="7571053" y="1960395"/>
              <a:ext cx="15932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dirty="0"/>
                <a:t>Time-series data ingestion</a:t>
              </a:r>
            </a:p>
          </p:txBody>
        </p:sp>
      </p:grpSp>
      <p:grpSp>
        <p:nvGrpSpPr>
          <p:cNvPr id="1089" name="קבוצה 1088">
            <a:extLst>
              <a:ext uri="{FF2B5EF4-FFF2-40B4-BE49-F238E27FC236}">
                <a16:creationId xmlns:a16="http://schemas.microsoft.com/office/drawing/2014/main" id="{2E602BCE-89BD-FAE1-046E-30A0477AE611}"/>
              </a:ext>
            </a:extLst>
          </p:cNvPr>
          <p:cNvGrpSpPr/>
          <p:nvPr/>
        </p:nvGrpSpPr>
        <p:grpSpPr>
          <a:xfrm>
            <a:off x="6807124" y="3360182"/>
            <a:ext cx="1461289" cy="1105056"/>
            <a:chOff x="7263347" y="3360182"/>
            <a:chExt cx="1461289" cy="1105056"/>
          </a:xfrm>
        </p:grpSpPr>
        <p:cxnSp>
          <p:nvCxnSpPr>
            <p:cNvPr id="50" name="מחבר חץ ישר 49">
              <a:extLst>
                <a:ext uri="{FF2B5EF4-FFF2-40B4-BE49-F238E27FC236}">
                  <a16:creationId xmlns:a16="http://schemas.microsoft.com/office/drawing/2014/main" id="{05D50ABD-02A7-3F4D-9C20-C0A628820694}"/>
                </a:ext>
              </a:extLst>
            </p:cNvPr>
            <p:cNvCxnSpPr>
              <a:cxnSpLocks/>
            </p:cNvCxnSpPr>
            <p:nvPr/>
          </p:nvCxnSpPr>
          <p:spPr>
            <a:xfrm>
              <a:off x="8665234" y="3360182"/>
              <a:ext cx="0" cy="11050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8" name="תיבת טקסט 1087">
              <a:extLst>
                <a:ext uri="{FF2B5EF4-FFF2-40B4-BE49-F238E27FC236}">
                  <a16:creationId xmlns:a16="http://schemas.microsoft.com/office/drawing/2014/main" id="{9A4B45F7-4C88-BE87-DD7E-D02308C21B9A}"/>
                </a:ext>
              </a:extLst>
            </p:cNvPr>
            <p:cNvSpPr txBox="1"/>
            <p:nvPr/>
          </p:nvSpPr>
          <p:spPr>
            <a:xfrm>
              <a:off x="7263347" y="3578196"/>
              <a:ext cx="146128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dirty="0"/>
                <a:t>Time-series visualization</a:t>
              </a:r>
            </a:p>
          </p:txBody>
        </p:sp>
      </p:grpSp>
      <p:grpSp>
        <p:nvGrpSpPr>
          <p:cNvPr id="1098" name="קבוצה 1097">
            <a:extLst>
              <a:ext uri="{FF2B5EF4-FFF2-40B4-BE49-F238E27FC236}">
                <a16:creationId xmlns:a16="http://schemas.microsoft.com/office/drawing/2014/main" id="{56B09CC6-7592-CFFA-717F-6490D9B4312E}"/>
              </a:ext>
            </a:extLst>
          </p:cNvPr>
          <p:cNvGrpSpPr/>
          <p:nvPr/>
        </p:nvGrpSpPr>
        <p:grpSpPr>
          <a:xfrm>
            <a:off x="10702203" y="1695870"/>
            <a:ext cx="1527426" cy="660700"/>
            <a:chOff x="10830056" y="1645628"/>
            <a:chExt cx="1527426" cy="660700"/>
          </a:xfrm>
        </p:grpSpPr>
        <p:cxnSp>
          <p:nvCxnSpPr>
            <p:cNvPr id="52" name="מחבר חץ ישר 51">
              <a:extLst>
                <a:ext uri="{FF2B5EF4-FFF2-40B4-BE49-F238E27FC236}">
                  <a16:creationId xmlns:a16="http://schemas.microsoft.com/office/drawing/2014/main" id="{68C6DD33-54FD-E5AC-93DB-0325DD2C9E75}"/>
                </a:ext>
              </a:extLst>
            </p:cNvPr>
            <p:cNvCxnSpPr>
              <a:cxnSpLocks/>
            </p:cNvCxnSpPr>
            <p:nvPr/>
          </p:nvCxnSpPr>
          <p:spPr>
            <a:xfrm>
              <a:off x="10920358" y="1645628"/>
              <a:ext cx="0" cy="6607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6" name="תיבת טקסט 1095">
              <a:extLst>
                <a:ext uri="{FF2B5EF4-FFF2-40B4-BE49-F238E27FC236}">
                  <a16:creationId xmlns:a16="http://schemas.microsoft.com/office/drawing/2014/main" id="{1EE8CE34-25B6-A141-E1B7-8C33EB4BB5B6}"/>
                </a:ext>
              </a:extLst>
            </p:cNvPr>
            <p:cNvSpPr txBox="1"/>
            <p:nvPr/>
          </p:nvSpPr>
          <p:spPr>
            <a:xfrm>
              <a:off x="10830056" y="1659997"/>
              <a:ext cx="152742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dirty="0"/>
                <a:t>Condition-based trigger</a:t>
              </a:r>
            </a:p>
          </p:txBody>
        </p:sp>
      </p:grpSp>
      <p:sp>
        <p:nvSpPr>
          <p:cNvPr id="1103" name="תיבת טקסט 1102">
            <a:extLst>
              <a:ext uri="{FF2B5EF4-FFF2-40B4-BE49-F238E27FC236}">
                <a16:creationId xmlns:a16="http://schemas.microsoft.com/office/drawing/2014/main" id="{9D643F03-EEE4-D479-1433-A97DE3AC7328}"/>
              </a:ext>
            </a:extLst>
          </p:cNvPr>
          <p:cNvSpPr txBox="1"/>
          <p:nvPr/>
        </p:nvSpPr>
        <p:spPr>
          <a:xfrm>
            <a:off x="9337763" y="3694782"/>
            <a:ext cx="2295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/>
              <a:t>Alert delivery (Telegram Bot)</a:t>
            </a:r>
          </a:p>
        </p:txBody>
      </p:sp>
    </p:spTree>
    <p:extLst>
      <p:ext uri="{BB962C8B-B14F-4D97-AF65-F5344CB8AC3E}">
        <p14:creationId xmlns:p14="http://schemas.microsoft.com/office/powerpoint/2010/main" val="427696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B1E7A-0C71-81F6-3AB5-4C346CE3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mazon.com: DIYmall ESP32 DEVKIT ESP32-S3 Development Board 36Pins ESP32  ESP-32S 2.4GHz WiFi+BT BLE Dual-core Dev Module CP2102 for Arduino DOIT  ESP32-WROOM-32 : Industrial &amp; Scientific">
            <a:extLst>
              <a:ext uri="{FF2B5EF4-FFF2-40B4-BE49-F238E27FC236}">
                <a16:creationId xmlns:a16="http://schemas.microsoft.com/office/drawing/2014/main" id="{20B3082D-7A08-5597-AB22-DA2800B6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1" y="8880"/>
            <a:ext cx="1587627" cy="158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‪5. DHT22 - Digital Temperature and Humidity Sensor‬‏">
            <a:extLst>
              <a:ext uri="{FF2B5EF4-FFF2-40B4-BE49-F238E27FC236}">
                <a16:creationId xmlns:a16="http://schemas.microsoft.com/office/drawing/2014/main" id="{87A1CEFE-D6ED-347F-3913-E78D713C4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57" y="2857952"/>
            <a:ext cx="1388364" cy="100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apacitive Soil Moisture Sensor V2.0 – QuartzComponents">
            <a:extLst>
              <a:ext uri="{FF2B5EF4-FFF2-40B4-BE49-F238E27FC236}">
                <a16:creationId xmlns:a16="http://schemas.microsoft.com/office/drawing/2014/main" id="{2337C7A2-8B3E-CD28-F790-91D37B5F07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7" b="25120"/>
          <a:stretch>
            <a:fillRect/>
          </a:stretch>
        </p:blipFill>
        <p:spPr bwMode="auto">
          <a:xfrm>
            <a:off x="37595" y="3922924"/>
            <a:ext cx="1728216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WS IoT Core - NorthBay Solutions">
            <a:extLst>
              <a:ext uri="{FF2B5EF4-FFF2-40B4-BE49-F238E27FC236}">
                <a16:creationId xmlns:a16="http://schemas.microsoft.com/office/drawing/2014/main" id="{AF4E8FD5-15E5-3825-15F0-BE1A792EA9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18" t="16484" r="30112" b="18623"/>
          <a:stretch>
            <a:fillRect/>
          </a:stretch>
        </p:blipFill>
        <p:spPr bwMode="auto">
          <a:xfrm>
            <a:off x="5145244" y="132388"/>
            <a:ext cx="1329308" cy="112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1586E6EA-7D3B-FA84-2159-C8698AD3F1A3}"/>
              </a:ext>
            </a:extLst>
          </p:cNvPr>
          <p:cNvCxnSpPr>
            <a:cxnSpLocks/>
          </p:cNvCxnSpPr>
          <p:nvPr/>
        </p:nvCxnSpPr>
        <p:spPr>
          <a:xfrm>
            <a:off x="3814352" y="925867"/>
            <a:ext cx="11343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6236753A-6A8A-DFD8-52B0-5F1C5856D78E}"/>
              </a:ext>
            </a:extLst>
          </p:cNvPr>
          <p:cNvSpPr txBox="1"/>
          <p:nvPr/>
        </p:nvSpPr>
        <p:spPr>
          <a:xfrm>
            <a:off x="3773165" y="312592"/>
            <a:ext cx="152742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MQTT over TLS</a:t>
            </a:r>
            <a:endParaRPr lang="he-IL" dirty="0"/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0F0814B9-0A0F-60A9-2848-8EAFED4F3B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4473" y="1839900"/>
            <a:ext cx="1261872" cy="1261872"/>
          </a:xfrm>
          <a:prstGeom prst="rect">
            <a:avLst/>
          </a:prstGeom>
        </p:spPr>
      </p:pic>
      <p:pic>
        <p:nvPicPr>
          <p:cNvPr id="1038" name="Picture 14" descr="Cracking The Code To Content Delivery | by Don Kaluarachchi | Towards AWS">
            <a:extLst>
              <a:ext uri="{FF2B5EF4-FFF2-40B4-BE49-F238E27FC236}">
                <a16:creationId xmlns:a16="http://schemas.microsoft.com/office/drawing/2014/main" id="{89E7D184-D8DC-4EFF-A5D4-CECA71E1C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7" t="21929" r="9893" b="22876"/>
          <a:stretch>
            <a:fillRect/>
          </a:stretch>
        </p:blipFill>
        <p:spPr bwMode="auto">
          <a:xfrm>
            <a:off x="3625738" y="3789170"/>
            <a:ext cx="2008633" cy="73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E5BAFDF9-EC8C-556C-B4AC-F07327EB7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482" y="5582218"/>
            <a:ext cx="1161288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AFD85F99-4A83-5FC7-22FA-E97DBF19F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021" y="5687935"/>
            <a:ext cx="1870565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9335C704-6C56-C6B0-FA76-524DCAAFEBEA}"/>
              </a:ext>
            </a:extLst>
          </p:cNvPr>
          <p:cNvCxnSpPr>
            <a:cxnSpLocks/>
          </p:cNvCxnSpPr>
          <p:nvPr/>
        </p:nvCxnSpPr>
        <p:spPr>
          <a:xfrm flipH="1">
            <a:off x="4910053" y="1235287"/>
            <a:ext cx="462253" cy="560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9CE74A54-5435-729C-4A28-6B8CCD0F8783}"/>
              </a:ext>
            </a:extLst>
          </p:cNvPr>
          <p:cNvCxnSpPr>
            <a:cxnSpLocks/>
            <a:endCxn id="1040" idx="0"/>
          </p:cNvCxnSpPr>
          <p:nvPr/>
        </p:nvCxnSpPr>
        <p:spPr>
          <a:xfrm flipH="1">
            <a:off x="4065126" y="4616999"/>
            <a:ext cx="229754" cy="965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7D892474-77EC-35D1-2642-23B6F55A1B68}"/>
              </a:ext>
            </a:extLst>
          </p:cNvPr>
          <p:cNvSpPr txBox="1"/>
          <p:nvPr/>
        </p:nvSpPr>
        <p:spPr>
          <a:xfrm>
            <a:off x="5079580" y="1258989"/>
            <a:ext cx="1484504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/>
              <a:t>IoT Rule: Store telemetry data</a:t>
            </a:r>
            <a:endParaRPr lang="he-IL" dirty="0"/>
          </a:p>
        </p:txBody>
      </p:sp>
      <p:grpSp>
        <p:nvGrpSpPr>
          <p:cNvPr id="1080" name="קבוצה 1079">
            <a:extLst>
              <a:ext uri="{FF2B5EF4-FFF2-40B4-BE49-F238E27FC236}">
                <a16:creationId xmlns:a16="http://schemas.microsoft.com/office/drawing/2014/main" id="{27BCA692-4A61-177F-EFEE-619EA837AAD6}"/>
              </a:ext>
            </a:extLst>
          </p:cNvPr>
          <p:cNvGrpSpPr/>
          <p:nvPr/>
        </p:nvGrpSpPr>
        <p:grpSpPr>
          <a:xfrm>
            <a:off x="405070" y="1315746"/>
            <a:ext cx="1084726" cy="2515481"/>
            <a:chOff x="405070" y="1315746"/>
            <a:chExt cx="1084726" cy="2515481"/>
          </a:xfrm>
        </p:grpSpPr>
        <p:cxnSp>
          <p:nvCxnSpPr>
            <p:cNvPr id="9" name="מחבר חץ ישר 8">
              <a:extLst>
                <a:ext uri="{FF2B5EF4-FFF2-40B4-BE49-F238E27FC236}">
                  <a16:creationId xmlns:a16="http://schemas.microsoft.com/office/drawing/2014/main" id="{B719655A-5ED6-35AD-7920-90A57AEDC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070" y="1315746"/>
              <a:ext cx="0" cy="25154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מחבר חץ ישר 16">
              <a:extLst>
                <a:ext uri="{FF2B5EF4-FFF2-40B4-BE49-F238E27FC236}">
                  <a16:creationId xmlns:a16="http://schemas.microsoft.com/office/drawing/2014/main" id="{AD4F68FF-171C-F941-0669-231E625C64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418" y="1315746"/>
              <a:ext cx="0" cy="16010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תיבת טקסט 43">
              <a:extLst>
                <a:ext uri="{FF2B5EF4-FFF2-40B4-BE49-F238E27FC236}">
                  <a16:creationId xmlns:a16="http://schemas.microsoft.com/office/drawing/2014/main" id="{02FA210C-41AF-1CB1-5CBD-7BB4B7E651B7}"/>
                </a:ext>
              </a:extLst>
            </p:cNvPr>
            <p:cNvSpPr txBox="1"/>
            <p:nvPr/>
          </p:nvSpPr>
          <p:spPr>
            <a:xfrm>
              <a:off x="726084" y="2324602"/>
              <a:ext cx="763712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dirty="0"/>
                <a:t>GPIO</a:t>
              </a:r>
            </a:p>
          </p:txBody>
        </p:sp>
      </p:grpSp>
      <p:grpSp>
        <p:nvGrpSpPr>
          <p:cNvPr id="1062" name="קבוצה 1061">
            <a:extLst>
              <a:ext uri="{FF2B5EF4-FFF2-40B4-BE49-F238E27FC236}">
                <a16:creationId xmlns:a16="http://schemas.microsoft.com/office/drawing/2014/main" id="{9B1EF402-21F5-D089-D052-80A5A90074BD}"/>
              </a:ext>
            </a:extLst>
          </p:cNvPr>
          <p:cNvGrpSpPr/>
          <p:nvPr/>
        </p:nvGrpSpPr>
        <p:grpSpPr>
          <a:xfrm>
            <a:off x="2443224" y="112099"/>
            <a:ext cx="1587628" cy="1599604"/>
            <a:chOff x="2443224" y="112099"/>
            <a:chExt cx="1587628" cy="1599604"/>
          </a:xfrm>
        </p:grpSpPr>
        <p:pic>
          <p:nvPicPr>
            <p:cNvPr id="1028" name="Picture 4" descr="Wifi Images - Free Download on Freepik">
              <a:extLst>
                <a:ext uri="{FF2B5EF4-FFF2-40B4-BE49-F238E27FC236}">
                  <a16:creationId xmlns:a16="http://schemas.microsoft.com/office/drawing/2014/main" id="{C98F085A-642C-0EA3-647C-3A147B9D94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224" y="112099"/>
              <a:ext cx="1587628" cy="1587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תיבת טקסט 45">
              <a:extLst>
                <a:ext uri="{FF2B5EF4-FFF2-40B4-BE49-F238E27FC236}">
                  <a16:creationId xmlns:a16="http://schemas.microsoft.com/office/drawing/2014/main" id="{F62F557A-FD51-2220-2323-EF94671C40CA}"/>
                </a:ext>
              </a:extLst>
            </p:cNvPr>
            <p:cNvSpPr txBox="1"/>
            <p:nvPr/>
          </p:nvSpPr>
          <p:spPr>
            <a:xfrm>
              <a:off x="2570353" y="1342371"/>
              <a:ext cx="12909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/>
                <a:t>WiFi</a:t>
              </a:r>
              <a:endParaRPr lang="he-IL" dirty="0"/>
            </a:p>
          </p:txBody>
        </p:sp>
      </p:grpSp>
      <p:cxnSp>
        <p:nvCxnSpPr>
          <p:cNvPr id="1039" name="מחבר חץ ישר 1038">
            <a:extLst>
              <a:ext uri="{FF2B5EF4-FFF2-40B4-BE49-F238E27FC236}">
                <a16:creationId xmlns:a16="http://schemas.microsoft.com/office/drawing/2014/main" id="{0776A728-2474-D0BF-7701-830A90867EB5}"/>
              </a:ext>
            </a:extLst>
          </p:cNvPr>
          <p:cNvCxnSpPr>
            <a:cxnSpLocks/>
          </p:cNvCxnSpPr>
          <p:nvPr/>
        </p:nvCxnSpPr>
        <p:spPr>
          <a:xfrm flipH="1">
            <a:off x="4375630" y="3174758"/>
            <a:ext cx="325038" cy="614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9" name="קבוצה 1078">
            <a:extLst>
              <a:ext uri="{FF2B5EF4-FFF2-40B4-BE49-F238E27FC236}">
                <a16:creationId xmlns:a16="http://schemas.microsoft.com/office/drawing/2014/main" id="{98CD40E5-A5D5-59E0-2AC2-E321FEFBE4CB}"/>
              </a:ext>
            </a:extLst>
          </p:cNvPr>
          <p:cNvGrpSpPr/>
          <p:nvPr/>
        </p:nvGrpSpPr>
        <p:grpSpPr>
          <a:xfrm>
            <a:off x="1015536" y="835895"/>
            <a:ext cx="2130632" cy="969549"/>
            <a:chOff x="1015536" y="835895"/>
            <a:chExt cx="2130632" cy="969549"/>
          </a:xfrm>
        </p:grpSpPr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335BAB94-7AD0-9CF4-A75B-6FFCEF576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08122" y="835895"/>
              <a:ext cx="1079630" cy="26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1" name="תיבת טקסט 1050">
              <a:extLst>
                <a:ext uri="{FF2B5EF4-FFF2-40B4-BE49-F238E27FC236}">
                  <a16:creationId xmlns:a16="http://schemas.microsoft.com/office/drawing/2014/main" id="{D540CE33-4F41-7E7A-AE07-FDABEB0D1813}"/>
                </a:ext>
              </a:extLst>
            </p:cNvPr>
            <p:cNvSpPr txBox="1"/>
            <p:nvPr/>
          </p:nvSpPr>
          <p:spPr>
            <a:xfrm>
              <a:off x="1015536" y="882114"/>
              <a:ext cx="213063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Sensor data acquisition &amp; network access</a:t>
              </a:r>
              <a:endParaRPr lang="he-IL" dirty="0"/>
            </a:p>
          </p:txBody>
        </p:sp>
      </p:grpSp>
      <p:sp>
        <p:nvSpPr>
          <p:cNvPr id="1066" name="תיבת טקסט 1065">
            <a:extLst>
              <a:ext uri="{FF2B5EF4-FFF2-40B4-BE49-F238E27FC236}">
                <a16:creationId xmlns:a16="http://schemas.microsoft.com/office/drawing/2014/main" id="{098EDE08-5D6C-8183-0B64-766CD9CF2674}"/>
              </a:ext>
            </a:extLst>
          </p:cNvPr>
          <p:cNvSpPr txBox="1"/>
          <p:nvPr/>
        </p:nvSpPr>
        <p:spPr>
          <a:xfrm>
            <a:off x="4630054" y="3152752"/>
            <a:ext cx="148450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/>
              <a:t>Static data distribution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8977995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69</Words>
  <Application>Microsoft Office PowerPoint</Application>
  <PresentationFormat>מסך רחב</PresentationFormat>
  <Paragraphs>20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adoni</dc:creator>
  <cp:lastModifiedBy>tal adoni</cp:lastModifiedBy>
  <cp:revision>14</cp:revision>
  <dcterms:created xsi:type="dcterms:W3CDTF">2026-01-05T15:45:32Z</dcterms:created>
  <dcterms:modified xsi:type="dcterms:W3CDTF">2026-01-27T10:17:06Z</dcterms:modified>
</cp:coreProperties>
</file>